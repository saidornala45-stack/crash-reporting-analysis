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1" r:id="rId2"/>
  </p:sldMasterIdLst>
  <p:notesMasterIdLst>
    <p:notesMasterId r:id="rId13"/>
  </p:notesMasterIdLst>
  <p:sldIdLst>
    <p:sldId id="256" r:id="rId3"/>
    <p:sldId id="257" r:id="rId4"/>
    <p:sldId id="258" r:id="rId5"/>
    <p:sldId id="266" r:id="rId6"/>
    <p:sldId id="260" r:id="rId7"/>
    <p:sldId id="268" r:id="rId8"/>
    <p:sldId id="267" r:id="rId9"/>
    <p:sldId id="259" r:id="rId10"/>
    <p:sldId id="263" r:id="rId11"/>
    <p:sldId id="265"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t>11/16/2025</a:t>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3365" y="-46355"/>
            <a:ext cx="5486400" cy="8229600"/>
          </a:xfrm>
          <a:prstGeom prst="rect">
            <a:avLst/>
          </a:prstGeom>
        </p:spPr>
      </p:pic>
      <p:sp>
        <p:nvSpPr>
          <p:cNvPr id="3" name="Text 0"/>
          <p:cNvSpPr/>
          <p:nvPr/>
        </p:nvSpPr>
        <p:spPr>
          <a:xfrm>
            <a:off x="863402" y="1768396"/>
            <a:ext cx="7415927" cy="2057400"/>
          </a:xfrm>
          <a:prstGeom prst="rect">
            <a:avLst/>
          </a:prstGeom>
          <a:noFill/>
        </p:spPr>
        <p:txBody>
          <a:bodyPr wrap="square" lIns="0" tIns="0" rIns="0" bIns="0" rtlCol="0" anchor="t"/>
          <a:lstStyle/>
          <a:p>
            <a:pPr marL="0" indent="0" algn="l">
              <a:lnSpc>
                <a:spcPts val="5400"/>
              </a:lnSpc>
              <a:buNone/>
            </a:pPr>
            <a:r>
              <a:rPr lang="en-US" sz="4300" b="1" u="sng" dirty="0">
                <a:solidFill>
                  <a:srgbClr val="F0FCFF"/>
                </a:solidFill>
                <a:latin typeface="Times New Roman" panose="02020603050405020304" charset="0"/>
                <a:ea typeface="Spline Sans Bold" pitchFamily="34" charset="-122"/>
                <a:cs typeface="Times New Roman" panose="02020603050405020304" charset="0"/>
              </a:rPr>
              <a:t>Crash Reporting-Drivers Data Project</a:t>
            </a:r>
          </a:p>
        </p:txBody>
      </p:sp>
      <p:sp>
        <p:nvSpPr>
          <p:cNvPr id="8" name="Text 4"/>
          <p:cNvSpPr/>
          <p:nvPr/>
        </p:nvSpPr>
        <p:spPr>
          <a:xfrm>
            <a:off x="4037330" y="6296025"/>
            <a:ext cx="4223385" cy="1137285"/>
          </a:xfrm>
          <a:prstGeom prst="rect">
            <a:avLst/>
          </a:prstGeom>
          <a:noFill/>
        </p:spPr>
        <p:txBody>
          <a:bodyPr wrap="none" lIns="0" tIns="0" rIns="0" bIns="0" rtlCol="0" anchor="t"/>
          <a:lstStyle/>
          <a:p>
            <a:pPr marL="0" indent="0" algn="l">
              <a:lnSpc>
                <a:spcPts val="3400"/>
              </a:lnSpc>
              <a:buNone/>
            </a:pPr>
            <a:r>
              <a:rPr lang="en-US" sz="2400" b="1" dirty="0">
                <a:solidFill>
                  <a:srgbClr val="E0E4E6"/>
                </a:solidFill>
                <a:latin typeface="Times New Roman" panose="02020603050405020304" charset="0"/>
                <a:ea typeface="Barlow Bold" pitchFamily="34" charset="-122"/>
                <a:cs typeface="Times New Roman" panose="02020603050405020304" charset="0"/>
              </a:rPr>
              <a:t>                     Vishnu Sai Dornala </a:t>
            </a:r>
          </a:p>
          <a:p>
            <a:pPr marL="0" indent="0" algn="l">
              <a:lnSpc>
                <a:spcPts val="3400"/>
              </a:lnSpc>
              <a:buNone/>
            </a:pPr>
            <a:r>
              <a:rPr lang="en-US" sz="2400" b="1" dirty="0">
                <a:solidFill>
                  <a:srgbClr val="E0E4E6"/>
                </a:solidFill>
                <a:latin typeface="Times New Roman" panose="02020603050405020304" charset="0"/>
                <a:ea typeface="Barlow Bold" pitchFamily="34" charset="-122"/>
                <a:cs typeface="Times New Roman" panose="02020603050405020304" charset="0"/>
              </a:rPr>
              <a:t> </a:t>
            </a:r>
          </a:p>
          <a:p>
            <a:pPr marL="0" indent="0" algn="l">
              <a:lnSpc>
                <a:spcPts val="3400"/>
              </a:lnSpc>
              <a:buNone/>
            </a:pPr>
            <a:endParaRPr lang="en-US" sz="2400" b="1" dirty="0">
              <a:solidFill>
                <a:srgbClr val="E0E4E6"/>
              </a:solidFill>
              <a:latin typeface="Times New Roman" panose="02020603050405020304" charset="0"/>
              <a:ea typeface="Barlow Bold" pitchFamily="34" charset="-122"/>
              <a:cs typeface="Times New Roman" panose="02020603050405020304" charset="0"/>
            </a:endParaRPr>
          </a:p>
          <a:p>
            <a:pPr marL="0" indent="0" algn="l">
              <a:lnSpc>
                <a:spcPts val="3400"/>
              </a:lnSpc>
              <a:buNone/>
            </a:pPr>
            <a:r>
              <a:rPr lang="en-US" sz="2400" dirty="0">
                <a:latin typeface="Times New Roman" panose="02020603050405020304" charset="0"/>
                <a:cs typeface="Times New Roman" panose="0202060305040502030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 name="Text Box 17"/>
          <p:cNvSpPr txBox="1"/>
          <p:nvPr/>
        </p:nvSpPr>
        <p:spPr>
          <a:xfrm>
            <a:off x="1445895" y="1434465"/>
            <a:ext cx="4876800" cy="521970"/>
          </a:xfrm>
          <a:prstGeom prst="rect">
            <a:avLst/>
          </a:prstGeom>
          <a:noFill/>
        </p:spPr>
        <p:txBody>
          <a:bodyPr wrap="square" rtlCol="0">
            <a:spAutoFit/>
          </a:bodyPr>
          <a:lstStyle/>
          <a:p>
            <a:r>
              <a:rPr lang="en-US" sz="2800" b="1" u="sng">
                <a:solidFill>
                  <a:schemeClr val="bg1"/>
                </a:solidFill>
                <a:latin typeface="Times New Roman" panose="02020603050405020304" charset="0"/>
                <a:cs typeface="Times New Roman" panose="02020603050405020304" charset="0"/>
              </a:rPr>
              <a:t>INTRODUCTION:</a:t>
            </a:r>
          </a:p>
        </p:txBody>
      </p:sp>
      <p:sp>
        <p:nvSpPr>
          <p:cNvPr id="19" name="Text Box 18"/>
          <p:cNvSpPr txBox="1"/>
          <p:nvPr/>
        </p:nvSpPr>
        <p:spPr>
          <a:xfrm>
            <a:off x="1445895" y="2696210"/>
            <a:ext cx="11381740" cy="3022600"/>
          </a:xfrm>
          <a:prstGeom prst="rect">
            <a:avLst/>
          </a:prstGeom>
          <a:noFill/>
        </p:spPr>
        <p:txBody>
          <a:bodyPr wrap="square" rtlCol="0">
            <a:noAutofit/>
          </a:bodyPr>
          <a:lstStyle/>
          <a:p>
            <a:r>
              <a:rPr lang="en-US" altLang="en-US" sz="2400">
                <a:solidFill>
                  <a:schemeClr val="bg1"/>
                </a:solidFill>
                <a:latin typeface="Times New Roman" panose="02020603050405020304" charset="0"/>
                <a:cs typeface="Times New Roman" panose="02020603050405020304" charset="0"/>
              </a:rPr>
              <a:t>We will look at the collisions that have happened in Montogomory County in this dataset. The location, involved cars, weather, road, speed limit, date, time, and other crash-related details are all included in the police-collected data. In addition to many other things, we will use this data to identify which roads, hours, and days of the week are collision hotspots. </a:t>
            </a:r>
          </a:p>
          <a:p>
            <a:endParaRPr lang="en-US" altLang="en-US" sz="24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 0"/>
          <p:cNvSpPr/>
          <p:nvPr/>
        </p:nvSpPr>
        <p:spPr>
          <a:xfrm>
            <a:off x="864037" y="2293382"/>
            <a:ext cx="12771001" cy="685800"/>
          </a:xfrm>
          <a:prstGeom prst="rect">
            <a:avLst/>
          </a:prstGeom>
          <a:noFill/>
        </p:spPr>
        <p:txBody>
          <a:bodyPr wrap="none" lIns="0" tIns="0" rIns="0" bIns="0" rtlCol="0" anchor="t"/>
          <a:lstStyle/>
          <a:p>
            <a:pPr marL="0" indent="0" algn="l">
              <a:lnSpc>
                <a:spcPts val="5400"/>
              </a:lnSpc>
              <a:buNone/>
            </a:pPr>
            <a:r>
              <a:rPr lang="en-US" sz="4300" b="1" u="sng" dirty="0">
                <a:solidFill>
                  <a:srgbClr val="F0FCFF"/>
                </a:solidFill>
                <a:latin typeface="Times New Roman" panose="02020603050405020304" charset="0"/>
                <a:ea typeface="Spline Sans Bold" pitchFamily="34" charset="-122"/>
                <a:cs typeface="Times New Roman" panose="02020603050405020304" charset="0"/>
              </a:rPr>
              <a:t>Data Visualization Techniques: Tools and Methods</a:t>
            </a:r>
          </a:p>
        </p:txBody>
      </p:sp>
      <p:sp>
        <p:nvSpPr>
          <p:cNvPr id="7" name="Text 5"/>
          <p:cNvSpPr/>
          <p:nvPr/>
        </p:nvSpPr>
        <p:spPr>
          <a:xfrm>
            <a:off x="1901944" y="3596283"/>
            <a:ext cx="2743200" cy="342900"/>
          </a:xfrm>
          <a:prstGeom prst="rect">
            <a:avLst/>
          </a:prstGeom>
          <a:noFill/>
        </p:spPr>
        <p:txBody>
          <a:bodyPr wrap="none" lIns="0" tIns="0" rIns="0" bIns="0" rtlCol="0" anchor="t"/>
          <a:lstStyle/>
          <a:p>
            <a:pPr marL="0" indent="0" algn="l">
              <a:lnSpc>
                <a:spcPts val="2700"/>
              </a:lnSpc>
              <a:buNone/>
            </a:pPr>
            <a:r>
              <a:rPr lang="en-US" sz="2800" b="1" u="sng" dirty="0">
                <a:solidFill>
                  <a:srgbClr val="F0FCFF"/>
                </a:solidFill>
                <a:latin typeface="Times New Roman" panose="02020603050405020304" charset="0"/>
                <a:ea typeface="Spline Sans Bold" pitchFamily="34" charset="-122"/>
                <a:cs typeface="Times New Roman" panose="02020603050405020304" charset="0"/>
              </a:rPr>
              <a:t>Statistical Charts</a:t>
            </a:r>
          </a:p>
        </p:txBody>
      </p:sp>
      <p:sp>
        <p:nvSpPr>
          <p:cNvPr id="8" name="Text 6"/>
          <p:cNvSpPr/>
          <p:nvPr/>
        </p:nvSpPr>
        <p:spPr>
          <a:xfrm>
            <a:off x="1983224" y="4185999"/>
            <a:ext cx="2773918" cy="1185148"/>
          </a:xfrm>
          <a:prstGeom prst="rect">
            <a:avLst/>
          </a:prstGeom>
          <a:noFill/>
        </p:spPr>
        <p:txBody>
          <a:bodyPr wrap="square" lIns="0" tIns="0" rIns="0" bIns="0" rtlCol="0" anchor="t"/>
          <a:lstStyle/>
          <a:p>
            <a:pPr marL="0" indent="0" algn="l">
              <a:lnSpc>
                <a:spcPts val="3100"/>
              </a:lnSpc>
              <a:buNone/>
            </a:pPr>
            <a:r>
              <a:rPr lang="en-US" sz="2400" dirty="0">
                <a:solidFill>
                  <a:srgbClr val="E0E4E6"/>
                </a:solidFill>
                <a:latin typeface="Times New Roman" panose="02020603050405020304" charset="0"/>
                <a:ea typeface="Barlow" panose="00000800000000000000" pitchFamily="34" charset="-122"/>
                <a:cs typeface="Times New Roman" panose="02020603050405020304" charset="0"/>
              </a:rPr>
              <a:t>Visualizes trends and correlations for deeper analysis.</a:t>
            </a:r>
          </a:p>
        </p:txBody>
      </p:sp>
      <p:sp>
        <p:nvSpPr>
          <p:cNvPr id="9" name="Text 7"/>
          <p:cNvSpPr/>
          <p:nvPr/>
        </p:nvSpPr>
        <p:spPr>
          <a:xfrm>
            <a:off x="5794970" y="3596283"/>
            <a:ext cx="2743200" cy="342900"/>
          </a:xfrm>
          <a:prstGeom prst="rect">
            <a:avLst/>
          </a:prstGeom>
          <a:noFill/>
        </p:spPr>
        <p:txBody>
          <a:bodyPr wrap="none" lIns="0" tIns="0" rIns="0" bIns="0" rtlCol="0" anchor="t"/>
          <a:lstStyle/>
          <a:p>
            <a:pPr marL="0" indent="0" algn="l">
              <a:lnSpc>
                <a:spcPts val="2700"/>
              </a:lnSpc>
              <a:buNone/>
            </a:pPr>
            <a:r>
              <a:rPr lang="en-US" altLang="en-IN" sz="2800" b="1" u="sng">
                <a:solidFill>
                  <a:schemeClr val="bg1"/>
                </a:solidFill>
                <a:latin typeface="Times New Roman" panose="02020603050405020304" charset="0"/>
                <a:cs typeface="Times New Roman" panose="02020603050405020304" charset="0"/>
                <a:sym typeface="+mn-ea"/>
              </a:rPr>
              <a:t>Technologies </a:t>
            </a:r>
            <a:r>
              <a:rPr lang="en-US" sz="2800" b="1" u="sng" dirty="0">
                <a:solidFill>
                  <a:srgbClr val="F0FCFF"/>
                </a:solidFill>
                <a:latin typeface="Times New Roman" panose="02020603050405020304" charset="0"/>
                <a:ea typeface="Spline Sans Bold" pitchFamily="34" charset="-122"/>
                <a:cs typeface="Times New Roman" panose="02020603050405020304" charset="0"/>
              </a:rPr>
              <a:t>Used</a:t>
            </a:r>
            <a:endParaRPr lang="en-US" sz="2800" u="sng" dirty="0">
              <a:latin typeface="Times New Roman" panose="02020603050405020304" charset="0"/>
              <a:cs typeface="Times New Roman" panose="02020603050405020304" charset="0"/>
            </a:endParaRPr>
          </a:p>
        </p:txBody>
      </p:sp>
      <p:sp>
        <p:nvSpPr>
          <p:cNvPr id="10" name="Text 8"/>
          <p:cNvSpPr/>
          <p:nvPr/>
        </p:nvSpPr>
        <p:spPr>
          <a:xfrm>
            <a:off x="5794970" y="4185999"/>
            <a:ext cx="2773918" cy="790099"/>
          </a:xfrm>
          <a:prstGeom prst="rect">
            <a:avLst/>
          </a:prstGeom>
          <a:noFill/>
        </p:spPr>
        <p:txBody>
          <a:bodyPr wrap="square" lIns="0" tIns="0" rIns="0" bIns="0" rtlCol="0" anchor="t"/>
          <a:lstStyle/>
          <a:p>
            <a:pPr marL="0" indent="0" algn="l">
              <a:lnSpc>
                <a:spcPts val="3100"/>
              </a:lnSpc>
              <a:buNone/>
            </a:pPr>
            <a:r>
              <a:rPr lang="en-US" sz="2400" dirty="0">
                <a:solidFill>
                  <a:srgbClr val="E0E4E6"/>
                </a:solidFill>
                <a:latin typeface="Times New Roman" panose="02020603050405020304" charset="0"/>
                <a:ea typeface="Barlow" panose="00000800000000000000" pitchFamily="34" charset="-122"/>
                <a:cs typeface="Times New Roman" panose="02020603050405020304" charset="0"/>
              </a:rPr>
              <a:t>Tableau, Python (matplotlib, seaborn).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p:nvPr/>
        </p:nvSpPr>
        <p:spPr>
          <a:xfrm>
            <a:off x="906145" y="894715"/>
            <a:ext cx="4876800" cy="460375"/>
          </a:xfrm>
          <a:prstGeom prst="rect">
            <a:avLst/>
          </a:prstGeom>
          <a:noFill/>
        </p:spPr>
        <p:txBody>
          <a:bodyPr wrap="square" rtlCol="0">
            <a:spAutoFit/>
          </a:bodyPr>
          <a:lstStyle/>
          <a:p>
            <a:r>
              <a:rPr lang="en-US" altLang="en-US" sz="2400">
                <a:solidFill>
                  <a:schemeClr val="bg1"/>
                </a:solidFill>
                <a:latin typeface="Times New Roman" panose="02020603050405020304" charset="0"/>
                <a:cs typeface="Times New Roman" panose="02020603050405020304" charset="0"/>
              </a:rPr>
              <a:t>     Accidents by Speed Limit</a:t>
            </a:r>
          </a:p>
        </p:txBody>
      </p:sp>
      <p:sp>
        <p:nvSpPr>
          <p:cNvPr id="2" name="Text Box 1"/>
          <p:cNvSpPr txBox="1"/>
          <p:nvPr/>
        </p:nvSpPr>
        <p:spPr>
          <a:xfrm>
            <a:off x="96520" y="185420"/>
            <a:ext cx="5686425" cy="532130"/>
          </a:xfrm>
          <a:prstGeom prst="rect">
            <a:avLst/>
          </a:prstGeom>
          <a:noFill/>
        </p:spPr>
        <p:txBody>
          <a:bodyPr wrap="square" rtlCol="0">
            <a:noAutofit/>
          </a:bodyPr>
          <a:lstStyle/>
          <a:p>
            <a:r>
              <a:rPr lang="en-US" sz="2800" b="1" u="sng">
                <a:solidFill>
                  <a:schemeClr val="bg1"/>
                </a:solidFill>
                <a:latin typeface="Times New Roman" panose="02020603050405020304" charset="0"/>
                <a:cs typeface="Times New Roman" panose="02020603050405020304" charset="0"/>
              </a:rPr>
              <a:t>GRAPH ANALYSIS:</a:t>
            </a:r>
          </a:p>
        </p:txBody>
      </p:sp>
      <p:pic>
        <p:nvPicPr>
          <p:cNvPr id="3" name="Picture 2"/>
          <p:cNvPicPr>
            <a:picLocks noChangeAspect="1"/>
          </p:cNvPicPr>
          <p:nvPr/>
        </p:nvPicPr>
        <p:blipFill>
          <a:blip r:embed="rId3"/>
          <a:stretch>
            <a:fillRect/>
          </a:stretch>
        </p:blipFill>
        <p:spPr>
          <a:xfrm>
            <a:off x="27305" y="1532255"/>
            <a:ext cx="6619240" cy="6704330"/>
          </a:xfrm>
          <a:prstGeom prst="rect">
            <a:avLst/>
          </a:prstGeom>
        </p:spPr>
      </p:pic>
      <p:pic>
        <p:nvPicPr>
          <p:cNvPr id="4" name="Picture 3"/>
          <p:cNvPicPr>
            <a:picLocks noChangeAspect="1"/>
          </p:cNvPicPr>
          <p:nvPr/>
        </p:nvPicPr>
        <p:blipFill>
          <a:blip r:embed="rId4"/>
          <a:stretch>
            <a:fillRect/>
          </a:stretch>
        </p:blipFill>
        <p:spPr>
          <a:xfrm>
            <a:off x="6909435" y="1532255"/>
            <a:ext cx="7748270" cy="6703695"/>
          </a:xfrm>
          <a:prstGeom prst="rect">
            <a:avLst/>
          </a:prstGeom>
        </p:spPr>
      </p:pic>
      <p:sp>
        <p:nvSpPr>
          <p:cNvPr id="6" name="Text Box 5"/>
          <p:cNvSpPr txBox="1"/>
          <p:nvPr/>
        </p:nvSpPr>
        <p:spPr>
          <a:xfrm>
            <a:off x="9436735" y="856615"/>
            <a:ext cx="4876800" cy="460375"/>
          </a:xfrm>
          <a:prstGeom prst="rect">
            <a:avLst/>
          </a:prstGeom>
          <a:noFill/>
        </p:spPr>
        <p:txBody>
          <a:bodyPr wrap="square" rtlCol="0">
            <a:spAutoFit/>
          </a:bodyPr>
          <a:lstStyle/>
          <a:p>
            <a:r>
              <a:rPr lang="en-US" sz="2400">
                <a:solidFill>
                  <a:schemeClr val="bg1"/>
                </a:solidFill>
                <a:latin typeface="Times New Roman" panose="02020603050405020304" charset="0"/>
                <a:cs typeface="Times New Roman" panose="02020603050405020304" charset="0"/>
              </a:rPr>
              <a:t>  Accidents by Hour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a:fillRect/>
          </a:stretch>
        </p:blipFill>
        <p:spPr>
          <a:xfrm>
            <a:off x="81280" y="1673225"/>
            <a:ext cx="6736080" cy="6243955"/>
          </a:xfrm>
          <a:prstGeom prst="rect">
            <a:avLst/>
          </a:prstGeom>
        </p:spPr>
      </p:pic>
      <p:pic>
        <p:nvPicPr>
          <p:cNvPr id="11" name="Picture 10"/>
          <p:cNvPicPr>
            <a:picLocks noChangeAspect="1"/>
          </p:cNvPicPr>
          <p:nvPr/>
        </p:nvPicPr>
        <p:blipFill>
          <a:blip r:embed="rId4"/>
          <a:stretch>
            <a:fillRect/>
          </a:stretch>
        </p:blipFill>
        <p:spPr>
          <a:xfrm>
            <a:off x="6969760" y="1673225"/>
            <a:ext cx="7545070" cy="6294120"/>
          </a:xfrm>
          <a:prstGeom prst="rect">
            <a:avLst/>
          </a:prstGeom>
        </p:spPr>
      </p:pic>
      <p:sp>
        <p:nvSpPr>
          <p:cNvPr id="12" name="Text Box 11"/>
          <p:cNvSpPr txBox="1"/>
          <p:nvPr/>
        </p:nvSpPr>
        <p:spPr>
          <a:xfrm>
            <a:off x="929640" y="744855"/>
            <a:ext cx="4876800" cy="460375"/>
          </a:xfrm>
          <a:prstGeom prst="rect">
            <a:avLst/>
          </a:prstGeom>
          <a:noFill/>
        </p:spPr>
        <p:txBody>
          <a:bodyPr wrap="square" rtlCol="0">
            <a:spAutoFit/>
          </a:bodyPr>
          <a:lstStyle/>
          <a:p>
            <a:r>
              <a:rPr lang="en-US" sz="2400">
                <a:solidFill>
                  <a:schemeClr val="bg1"/>
                </a:solidFill>
                <a:latin typeface="Times New Roman" panose="02020603050405020304" charset="0"/>
                <a:cs typeface="Times New Roman" panose="02020603050405020304" charset="0"/>
              </a:rPr>
              <a:t>           Accidents By Vehicle Make</a:t>
            </a:r>
          </a:p>
        </p:txBody>
      </p:sp>
      <p:sp>
        <p:nvSpPr>
          <p:cNvPr id="13" name="Text Box 12"/>
          <p:cNvSpPr txBox="1"/>
          <p:nvPr/>
        </p:nvSpPr>
        <p:spPr>
          <a:xfrm>
            <a:off x="8923655" y="744855"/>
            <a:ext cx="4876800" cy="460375"/>
          </a:xfrm>
          <a:prstGeom prst="rect">
            <a:avLst/>
          </a:prstGeom>
          <a:noFill/>
        </p:spPr>
        <p:txBody>
          <a:bodyPr wrap="square" rtlCol="0">
            <a:spAutoFit/>
          </a:bodyPr>
          <a:lstStyle/>
          <a:p>
            <a:r>
              <a:rPr lang="en-US" sz="2400">
                <a:solidFill>
                  <a:schemeClr val="bg1"/>
                </a:solidFill>
                <a:latin typeface="Times New Roman" panose="02020603050405020304" charset="0"/>
                <a:cs typeface="Times New Roman" panose="02020603050405020304" charset="0"/>
              </a:rPr>
              <a:t>          Accidents By Areas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6845" y="1534795"/>
            <a:ext cx="6712585" cy="6490970"/>
          </a:xfrm>
          <a:prstGeom prst="rect">
            <a:avLst/>
          </a:prstGeom>
        </p:spPr>
      </p:pic>
      <p:pic>
        <p:nvPicPr>
          <p:cNvPr id="5" name="Picture 4"/>
          <p:cNvPicPr>
            <a:picLocks noChangeAspect="1"/>
          </p:cNvPicPr>
          <p:nvPr/>
        </p:nvPicPr>
        <p:blipFill>
          <a:blip r:embed="rId3"/>
          <a:stretch>
            <a:fillRect/>
          </a:stretch>
        </p:blipFill>
        <p:spPr>
          <a:xfrm>
            <a:off x="7106285" y="1534795"/>
            <a:ext cx="7593330" cy="6517005"/>
          </a:xfrm>
          <a:prstGeom prst="rect">
            <a:avLst/>
          </a:prstGeom>
        </p:spPr>
      </p:pic>
      <p:sp>
        <p:nvSpPr>
          <p:cNvPr id="6" name="Text Box 5"/>
          <p:cNvSpPr txBox="1"/>
          <p:nvPr/>
        </p:nvSpPr>
        <p:spPr>
          <a:xfrm>
            <a:off x="1734820" y="661035"/>
            <a:ext cx="4876800" cy="460375"/>
          </a:xfrm>
          <a:prstGeom prst="rect">
            <a:avLst/>
          </a:prstGeom>
          <a:noFill/>
        </p:spPr>
        <p:txBody>
          <a:bodyPr wrap="square" rtlCol="0">
            <a:spAutoFit/>
          </a:bodyPr>
          <a:lstStyle/>
          <a:p>
            <a:r>
              <a:rPr lang="en-US" sz="2400">
                <a:solidFill>
                  <a:schemeClr val="bg1"/>
                </a:solidFill>
                <a:latin typeface="Times New Roman" panose="02020603050405020304" charset="0"/>
                <a:cs typeface="Times New Roman" panose="02020603050405020304" charset="0"/>
              </a:rPr>
              <a:t>   Level of Injury Severity</a:t>
            </a:r>
          </a:p>
        </p:txBody>
      </p:sp>
      <p:sp>
        <p:nvSpPr>
          <p:cNvPr id="12" name="Text Box 11"/>
          <p:cNvSpPr txBox="1"/>
          <p:nvPr/>
        </p:nvSpPr>
        <p:spPr>
          <a:xfrm>
            <a:off x="7534275" y="661035"/>
            <a:ext cx="5617845" cy="460375"/>
          </a:xfrm>
          <a:prstGeom prst="rect">
            <a:avLst/>
          </a:prstGeom>
          <a:noFill/>
        </p:spPr>
        <p:txBody>
          <a:bodyPr wrap="square" rtlCol="0">
            <a:spAutoFit/>
          </a:bodyPr>
          <a:lstStyle/>
          <a:p>
            <a:r>
              <a:rPr lang="en-US" sz="2400">
                <a:solidFill>
                  <a:schemeClr val="bg1"/>
                </a:solidFill>
                <a:latin typeface="Times New Roman" panose="02020603050405020304" charset="0"/>
                <a:cs typeface="Times New Roman" panose="02020603050405020304" charset="0"/>
              </a:rPr>
              <a:t>     Accidents by Distracted Drivers By Hour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1280" y="1717040"/>
            <a:ext cx="14433550" cy="6438900"/>
          </a:xfrm>
          <a:prstGeom prst="rect">
            <a:avLst/>
          </a:prstGeom>
        </p:spPr>
      </p:pic>
      <p:sp>
        <p:nvSpPr>
          <p:cNvPr id="5" name="Text Box 4"/>
          <p:cNvSpPr txBox="1"/>
          <p:nvPr/>
        </p:nvSpPr>
        <p:spPr>
          <a:xfrm>
            <a:off x="4674870" y="948055"/>
            <a:ext cx="4876800" cy="460375"/>
          </a:xfrm>
          <a:prstGeom prst="rect">
            <a:avLst/>
          </a:prstGeom>
          <a:noFill/>
        </p:spPr>
        <p:txBody>
          <a:bodyPr wrap="square" rtlCol="0">
            <a:spAutoFit/>
          </a:bodyPr>
          <a:lstStyle/>
          <a:p>
            <a:r>
              <a:rPr lang="en-US" sz="2400">
                <a:solidFill>
                  <a:schemeClr val="bg1"/>
                </a:solidFill>
                <a:latin typeface="Times New Roman" panose="02020603050405020304" charset="0"/>
                <a:cs typeface="Times New Roman" panose="02020603050405020304" charset="0"/>
              </a:rPr>
              <a:t>           Accidents By Weather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64712" y="611743"/>
            <a:ext cx="7587377" cy="1235393"/>
          </a:xfrm>
          <a:prstGeom prst="rect">
            <a:avLst/>
          </a:prstGeom>
          <a:noFill/>
        </p:spPr>
        <p:txBody>
          <a:bodyPr wrap="square" lIns="0" tIns="0" rIns="0" bIns="0" rtlCol="0" anchor="t"/>
          <a:lstStyle/>
          <a:p>
            <a:pPr marL="0" indent="0" algn="l">
              <a:lnSpc>
                <a:spcPts val="4850"/>
              </a:lnSpc>
              <a:buNone/>
            </a:pPr>
            <a:r>
              <a:rPr lang="en-US" sz="3850" b="1" u="sng" dirty="0">
                <a:solidFill>
                  <a:srgbClr val="F0FCFF"/>
                </a:solidFill>
                <a:latin typeface="Times New Roman" panose="02020603050405020304" charset="0"/>
                <a:ea typeface="Spline Sans Bold" pitchFamily="34" charset="-122"/>
                <a:cs typeface="Times New Roman" panose="02020603050405020304" charset="0"/>
              </a:rPr>
              <a:t>Key Performance Indicators (KPIs): Measuring Success</a:t>
            </a:r>
          </a:p>
        </p:txBody>
      </p:sp>
      <p:sp>
        <p:nvSpPr>
          <p:cNvPr id="4" name="Shape 1"/>
          <p:cNvSpPr/>
          <p:nvPr/>
        </p:nvSpPr>
        <p:spPr>
          <a:xfrm>
            <a:off x="6264712" y="2180630"/>
            <a:ext cx="500301" cy="500301"/>
          </a:xfrm>
          <a:prstGeom prst="roundRect">
            <a:avLst>
              <a:gd name="adj" fmla="val 66675"/>
            </a:avLst>
          </a:prstGeom>
          <a:solidFill>
            <a:srgbClr val="0A081B"/>
          </a:solidFill>
          <a:ln w="22860">
            <a:solidFill>
              <a:srgbClr val="16FFBB"/>
            </a:solidFill>
            <a:prstDash val="solid"/>
          </a:ln>
        </p:spPr>
        <p:txBody>
          <a:bodyPr/>
          <a:lstStyle/>
          <a:p>
            <a:endParaRPr lang="en-US"/>
          </a:p>
        </p:txBody>
      </p:sp>
      <p:sp>
        <p:nvSpPr>
          <p:cNvPr id="5" name="Text 2"/>
          <p:cNvSpPr/>
          <p:nvPr/>
        </p:nvSpPr>
        <p:spPr>
          <a:xfrm>
            <a:off x="6987302" y="2257068"/>
            <a:ext cx="2470904" cy="308729"/>
          </a:xfrm>
          <a:prstGeom prst="rect">
            <a:avLst/>
          </a:prstGeom>
          <a:noFill/>
        </p:spPr>
        <p:txBody>
          <a:bodyPr wrap="none" lIns="0" tIns="0" rIns="0" bIns="0" rtlCol="0" anchor="t"/>
          <a:lstStyle/>
          <a:p>
            <a:pPr marL="0" indent="0" algn="l">
              <a:lnSpc>
                <a:spcPts val="2400"/>
              </a:lnSpc>
              <a:buNone/>
            </a:pPr>
            <a:r>
              <a:rPr lang="en-US" sz="1900" b="1" dirty="0">
                <a:solidFill>
                  <a:srgbClr val="E0E4E6"/>
                </a:solidFill>
                <a:latin typeface="Times New Roman" panose="02020603050405020304" charset="0"/>
                <a:ea typeface="Spline Sans Bold" pitchFamily="34" charset="-122"/>
                <a:cs typeface="Times New Roman" panose="02020603050405020304" charset="0"/>
              </a:rPr>
              <a:t>Crash Reduction</a:t>
            </a:r>
          </a:p>
        </p:txBody>
      </p:sp>
      <p:sp>
        <p:nvSpPr>
          <p:cNvPr id="6" name="Text 3"/>
          <p:cNvSpPr/>
          <p:nvPr/>
        </p:nvSpPr>
        <p:spPr>
          <a:xfrm>
            <a:off x="6987302" y="2699147"/>
            <a:ext cx="6864787" cy="355759"/>
          </a:xfrm>
          <a:prstGeom prst="rect">
            <a:avLst/>
          </a:prstGeom>
          <a:noFill/>
        </p:spPr>
        <p:txBody>
          <a:bodyPr wrap="none" lIns="0" tIns="0" rIns="0" bIns="0" rtlCol="0" anchor="t"/>
          <a:lstStyle/>
          <a:p>
            <a:pPr marL="0" indent="0" algn="l">
              <a:lnSpc>
                <a:spcPts val="2800"/>
              </a:lnSpc>
              <a:buNone/>
            </a:pPr>
            <a:r>
              <a:rPr lang="en-US" sz="1750" dirty="0">
                <a:solidFill>
                  <a:srgbClr val="E0E4E6"/>
                </a:solidFill>
                <a:latin typeface="Times New Roman" panose="02020603050405020304" charset="0"/>
                <a:ea typeface="Barlow" panose="00000800000000000000" pitchFamily="34" charset="-122"/>
                <a:cs typeface="Times New Roman" panose="02020603050405020304" charset="0"/>
              </a:rPr>
              <a:t>Decrease in crash frequency and severity.</a:t>
            </a:r>
          </a:p>
        </p:txBody>
      </p:sp>
      <p:sp>
        <p:nvSpPr>
          <p:cNvPr id="7" name="Shape 4"/>
          <p:cNvSpPr/>
          <p:nvPr/>
        </p:nvSpPr>
        <p:spPr>
          <a:xfrm>
            <a:off x="6264712" y="3499604"/>
            <a:ext cx="500301" cy="500301"/>
          </a:xfrm>
          <a:prstGeom prst="roundRect">
            <a:avLst>
              <a:gd name="adj" fmla="val 66675"/>
            </a:avLst>
          </a:prstGeom>
          <a:solidFill>
            <a:srgbClr val="0A081B"/>
          </a:solidFill>
          <a:ln w="22860">
            <a:solidFill>
              <a:srgbClr val="29DDDA"/>
            </a:solidFill>
            <a:prstDash val="solid"/>
          </a:ln>
        </p:spPr>
        <p:txBody>
          <a:bodyPr/>
          <a:lstStyle/>
          <a:p>
            <a:endParaRPr lang="en-US"/>
          </a:p>
        </p:txBody>
      </p:sp>
      <p:sp>
        <p:nvSpPr>
          <p:cNvPr id="8" name="Text 5"/>
          <p:cNvSpPr/>
          <p:nvPr/>
        </p:nvSpPr>
        <p:spPr>
          <a:xfrm>
            <a:off x="6987302" y="3576042"/>
            <a:ext cx="2470904" cy="308729"/>
          </a:xfrm>
          <a:prstGeom prst="rect">
            <a:avLst/>
          </a:prstGeom>
          <a:noFill/>
        </p:spPr>
        <p:txBody>
          <a:bodyPr wrap="none" lIns="0" tIns="0" rIns="0" bIns="0" rtlCol="0" anchor="t"/>
          <a:lstStyle/>
          <a:p>
            <a:pPr marL="0" indent="0" algn="l">
              <a:lnSpc>
                <a:spcPts val="2400"/>
              </a:lnSpc>
              <a:buNone/>
            </a:pPr>
            <a:r>
              <a:rPr lang="en-US" sz="1900" b="1" dirty="0">
                <a:solidFill>
                  <a:srgbClr val="E0E4E6"/>
                </a:solidFill>
                <a:latin typeface="Times New Roman" panose="02020603050405020304" charset="0"/>
                <a:ea typeface="Spline Sans Bold" pitchFamily="34" charset="-122"/>
                <a:cs typeface="Times New Roman" panose="02020603050405020304" charset="0"/>
              </a:rPr>
              <a:t>High-Risk Locations</a:t>
            </a:r>
          </a:p>
        </p:txBody>
      </p:sp>
      <p:sp>
        <p:nvSpPr>
          <p:cNvPr id="9" name="Text 6"/>
          <p:cNvSpPr/>
          <p:nvPr/>
        </p:nvSpPr>
        <p:spPr>
          <a:xfrm>
            <a:off x="6987302" y="4018121"/>
            <a:ext cx="6864787" cy="355759"/>
          </a:xfrm>
          <a:prstGeom prst="rect">
            <a:avLst/>
          </a:prstGeom>
          <a:noFill/>
        </p:spPr>
        <p:txBody>
          <a:bodyPr wrap="none" lIns="0" tIns="0" rIns="0" bIns="0" rtlCol="0" anchor="t"/>
          <a:lstStyle/>
          <a:p>
            <a:pPr marL="0" indent="0" algn="l">
              <a:lnSpc>
                <a:spcPts val="2800"/>
              </a:lnSpc>
              <a:buNone/>
            </a:pPr>
            <a:r>
              <a:rPr lang="en-US" sz="1750" dirty="0">
                <a:solidFill>
                  <a:srgbClr val="E0E4E6"/>
                </a:solidFill>
                <a:latin typeface="Times New Roman" panose="02020603050405020304" charset="0"/>
                <a:ea typeface="Barlow" panose="00000800000000000000" pitchFamily="34" charset="-122"/>
                <a:cs typeface="Times New Roman" panose="02020603050405020304" charset="0"/>
              </a:rPr>
              <a:t>Identification and monitoring of hotspots.</a:t>
            </a:r>
          </a:p>
        </p:txBody>
      </p:sp>
      <p:sp>
        <p:nvSpPr>
          <p:cNvPr id="10" name="Shape 7"/>
          <p:cNvSpPr/>
          <p:nvPr/>
        </p:nvSpPr>
        <p:spPr>
          <a:xfrm>
            <a:off x="6264712" y="4818578"/>
            <a:ext cx="500301" cy="500301"/>
          </a:xfrm>
          <a:prstGeom prst="roundRect">
            <a:avLst>
              <a:gd name="adj" fmla="val 66675"/>
            </a:avLst>
          </a:prstGeom>
          <a:solidFill>
            <a:srgbClr val="0A081B"/>
          </a:solidFill>
          <a:ln w="22860">
            <a:solidFill>
              <a:srgbClr val="37A7E7"/>
            </a:solidFill>
            <a:prstDash val="solid"/>
          </a:ln>
        </p:spPr>
        <p:txBody>
          <a:bodyPr/>
          <a:lstStyle/>
          <a:p>
            <a:endParaRPr lang="en-US"/>
          </a:p>
        </p:txBody>
      </p:sp>
      <p:sp>
        <p:nvSpPr>
          <p:cNvPr id="11" name="Text 8"/>
          <p:cNvSpPr/>
          <p:nvPr/>
        </p:nvSpPr>
        <p:spPr>
          <a:xfrm>
            <a:off x="6987302" y="4895017"/>
            <a:ext cx="2470904" cy="308729"/>
          </a:xfrm>
          <a:prstGeom prst="rect">
            <a:avLst/>
          </a:prstGeom>
          <a:noFill/>
        </p:spPr>
        <p:txBody>
          <a:bodyPr wrap="none" lIns="0" tIns="0" rIns="0" bIns="0" rtlCol="0" anchor="t"/>
          <a:lstStyle/>
          <a:p>
            <a:pPr marL="0" indent="0" algn="l">
              <a:lnSpc>
                <a:spcPts val="2400"/>
              </a:lnSpc>
              <a:buNone/>
            </a:pPr>
            <a:r>
              <a:rPr lang="en-US" sz="1900" b="1" dirty="0">
                <a:solidFill>
                  <a:srgbClr val="E0E4E6"/>
                </a:solidFill>
                <a:latin typeface="Times New Roman" panose="02020603050405020304" charset="0"/>
                <a:ea typeface="Spline Sans Bold" pitchFamily="34" charset="-122"/>
                <a:cs typeface="Times New Roman" panose="02020603050405020304" charset="0"/>
              </a:rPr>
              <a:t>Driver Behavior</a:t>
            </a:r>
          </a:p>
        </p:txBody>
      </p:sp>
      <p:sp>
        <p:nvSpPr>
          <p:cNvPr id="12" name="Text 9"/>
          <p:cNvSpPr/>
          <p:nvPr/>
        </p:nvSpPr>
        <p:spPr>
          <a:xfrm>
            <a:off x="6987302" y="5337096"/>
            <a:ext cx="6864787" cy="355759"/>
          </a:xfrm>
          <a:prstGeom prst="rect">
            <a:avLst/>
          </a:prstGeom>
          <a:noFill/>
        </p:spPr>
        <p:txBody>
          <a:bodyPr wrap="none" lIns="0" tIns="0" rIns="0" bIns="0" rtlCol="0" anchor="t"/>
          <a:lstStyle/>
          <a:p>
            <a:pPr marL="0" indent="0" algn="l">
              <a:lnSpc>
                <a:spcPts val="2800"/>
              </a:lnSpc>
              <a:buNone/>
            </a:pPr>
            <a:r>
              <a:rPr lang="en-US" sz="1750" dirty="0">
                <a:solidFill>
                  <a:srgbClr val="E0E4E6"/>
                </a:solidFill>
                <a:latin typeface="Times New Roman" panose="02020603050405020304" charset="0"/>
                <a:ea typeface="Barlow" panose="00000800000000000000" pitchFamily="34" charset="-122"/>
                <a:cs typeface="Times New Roman" panose="02020603050405020304" charset="0"/>
              </a:rPr>
              <a:t>Detect patterns influencing crash likelihood.</a:t>
            </a:r>
          </a:p>
        </p:txBody>
      </p:sp>
      <p:sp>
        <p:nvSpPr>
          <p:cNvPr id="13" name="Shape 10"/>
          <p:cNvSpPr/>
          <p:nvPr/>
        </p:nvSpPr>
        <p:spPr>
          <a:xfrm>
            <a:off x="6264712" y="6137553"/>
            <a:ext cx="500301" cy="500301"/>
          </a:xfrm>
          <a:prstGeom prst="roundRect">
            <a:avLst>
              <a:gd name="adj" fmla="val 66675"/>
            </a:avLst>
          </a:prstGeom>
          <a:solidFill>
            <a:srgbClr val="0A081B"/>
          </a:solidFill>
          <a:ln w="22860">
            <a:solidFill>
              <a:srgbClr val="091231"/>
            </a:solidFill>
            <a:prstDash val="solid"/>
          </a:ln>
        </p:spPr>
        <p:txBody>
          <a:bodyPr/>
          <a:lstStyle/>
          <a:p>
            <a:endParaRPr lang="en-US"/>
          </a:p>
        </p:txBody>
      </p:sp>
      <p:sp>
        <p:nvSpPr>
          <p:cNvPr id="14" name="Text 11"/>
          <p:cNvSpPr/>
          <p:nvPr/>
        </p:nvSpPr>
        <p:spPr>
          <a:xfrm>
            <a:off x="6987302" y="6213991"/>
            <a:ext cx="2492097" cy="308729"/>
          </a:xfrm>
          <a:prstGeom prst="rect">
            <a:avLst/>
          </a:prstGeom>
          <a:noFill/>
        </p:spPr>
        <p:txBody>
          <a:bodyPr wrap="none" lIns="0" tIns="0" rIns="0" bIns="0" rtlCol="0" anchor="t"/>
          <a:lstStyle/>
          <a:p>
            <a:pPr marL="0" indent="0" algn="l">
              <a:lnSpc>
                <a:spcPts val="2400"/>
              </a:lnSpc>
              <a:buNone/>
            </a:pPr>
            <a:r>
              <a:rPr lang="en-US" sz="1900" b="1" dirty="0">
                <a:solidFill>
                  <a:srgbClr val="E0E4E6"/>
                </a:solidFill>
                <a:latin typeface="Times New Roman" panose="02020603050405020304" charset="0"/>
                <a:ea typeface="Spline Sans Bold" pitchFamily="34" charset="-122"/>
                <a:cs typeface="Times New Roman" panose="02020603050405020304" charset="0"/>
              </a:rPr>
              <a:t>Emergency Response</a:t>
            </a:r>
          </a:p>
        </p:txBody>
      </p:sp>
      <p:sp>
        <p:nvSpPr>
          <p:cNvPr id="15" name="Text 12"/>
          <p:cNvSpPr/>
          <p:nvPr/>
        </p:nvSpPr>
        <p:spPr>
          <a:xfrm>
            <a:off x="6987302" y="6667500"/>
            <a:ext cx="6864787" cy="355759"/>
          </a:xfrm>
          <a:prstGeom prst="rect">
            <a:avLst/>
          </a:prstGeom>
          <a:noFill/>
        </p:spPr>
        <p:txBody>
          <a:bodyPr wrap="none" lIns="0" tIns="0" rIns="0" bIns="0" rtlCol="0" anchor="t"/>
          <a:lstStyle/>
          <a:p>
            <a:pPr marL="0" indent="0" algn="l">
              <a:lnSpc>
                <a:spcPts val="2800"/>
              </a:lnSpc>
              <a:buNone/>
            </a:pPr>
            <a:r>
              <a:rPr lang="en-US" sz="1750" dirty="0">
                <a:solidFill>
                  <a:srgbClr val="E0E4E6"/>
                </a:solidFill>
                <a:latin typeface="Times New Roman" panose="02020603050405020304" charset="0"/>
                <a:ea typeface="Barlow" panose="00000800000000000000" pitchFamily="34" charset="-122"/>
                <a:cs typeface="Times New Roman" panose="02020603050405020304" charset="0"/>
              </a:rPr>
              <a:t>Faster response times to incidents.</a:t>
            </a:r>
          </a:p>
        </p:txBody>
      </p:sp>
      <p:sp>
        <p:nvSpPr>
          <p:cNvPr id="16" name="Text 13"/>
          <p:cNvSpPr/>
          <p:nvPr/>
        </p:nvSpPr>
        <p:spPr>
          <a:xfrm>
            <a:off x="6264712" y="7261979"/>
            <a:ext cx="7587377" cy="355759"/>
          </a:xfrm>
          <a:prstGeom prst="rect">
            <a:avLst/>
          </a:prstGeom>
          <a:noFill/>
        </p:spPr>
        <p:txBody>
          <a:bodyPr wrap="none" lIns="0" tIns="0" rIns="0" bIns="0" rtlCol="0" anchor="t"/>
          <a:lstStyle/>
          <a:p>
            <a:pPr marL="0" indent="0" algn="l">
              <a:lnSpc>
                <a:spcPts val="2800"/>
              </a:lnSpc>
              <a:buNone/>
            </a:pPr>
            <a:endParaRPr lang="en-US" sz="1750" dirty="0">
              <a:latin typeface="Times New Roman" panose="02020603050405020304" charset="0"/>
              <a:cs typeface="Times New Roman" panose="02020603050405020304" charset="0"/>
            </a:endParaRPr>
          </a:p>
        </p:txBody>
      </p:sp>
      <p:pic>
        <p:nvPicPr>
          <p:cNvPr id="17" name="Picture 16"/>
          <p:cNvPicPr>
            <a:picLocks noChangeAspect="1"/>
          </p:cNvPicPr>
          <p:nvPr/>
        </p:nvPicPr>
        <p:blipFill>
          <a:blip r:embed="rId3"/>
          <a:stretch>
            <a:fillRect/>
          </a:stretch>
        </p:blipFill>
        <p:spPr>
          <a:xfrm>
            <a:off x="0" y="0"/>
            <a:ext cx="6049645" cy="82289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201579"/>
            <a:ext cx="7415927" cy="2057400"/>
          </a:xfrm>
          <a:prstGeom prst="rect">
            <a:avLst/>
          </a:prstGeom>
          <a:noFill/>
        </p:spPr>
        <p:txBody>
          <a:bodyPr wrap="square" lIns="0" tIns="0" rIns="0" bIns="0" rtlCol="0" anchor="t"/>
          <a:lstStyle/>
          <a:p>
            <a:pPr marL="0" indent="0" algn="l">
              <a:lnSpc>
                <a:spcPts val="5400"/>
              </a:lnSpc>
              <a:buNone/>
            </a:pPr>
            <a:r>
              <a:rPr lang="en-US" sz="4300" b="1" u="sng" dirty="0">
                <a:solidFill>
                  <a:srgbClr val="F0FCFF"/>
                </a:solidFill>
                <a:latin typeface="Times New Roman" panose="02020603050405020304" charset="0"/>
                <a:ea typeface="Spline Sans Bold" pitchFamily="34" charset="-122"/>
                <a:cs typeface="Times New Roman" panose="02020603050405020304" charset="0"/>
              </a:rPr>
              <a:t>Actionable Insights: Recommendations for Improvement</a:t>
            </a:r>
          </a:p>
        </p:txBody>
      </p:sp>
      <p:sp>
        <p:nvSpPr>
          <p:cNvPr id="4" name="Shape 1"/>
          <p:cNvSpPr/>
          <p:nvPr/>
        </p:nvSpPr>
        <p:spPr>
          <a:xfrm>
            <a:off x="864037" y="3629263"/>
            <a:ext cx="185142" cy="886063"/>
          </a:xfrm>
          <a:prstGeom prst="roundRect">
            <a:avLst>
              <a:gd name="adj" fmla="val 200026"/>
            </a:avLst>
          </a:prstGeom>
          <a:solidFill>
            <a:srgbClr val="0A081B"/>
          </a:solidFill>
          <a:ln w="30480">
            <a:solidFill>
              <a:srgbClr val="16FFBB"/>
            </a:solidFill>
            <a:prstDash val="solid"/>
          </a:ln>
        </p:spPr>
        <p:txBody>
          <a:bodyPr/>
          <a:lstStyle/>
          <a:p>
            <a:endParaRPr lang="en-US"/>
          </a:p>
        </p:txBody>
      </p:sp>
      <p:sp>
        <p:nvSpPr>
          <p:cNvPr id="5" name="Text 2"/>
          <p:cNvSpPr/>
          <p:nvPr/>
        </p:nvSpPr>
        <p:spPr>
          <a:xfrm>
            <a:off x="1419463" y="3629263"/>
            <a:ext cx="3131701" cy="342900"/>
          </a:xfrm>
          <a:prstGeom prst="rect">
            <a:avLst/>
          </a:prstGeom>
          <a:noFill/>
        </p:spPr>
        <p:txBody>
          <a:bodyPr wrap="none" lIns="0" tIns="0" rIns="0" bIns="0" rtlCol="0" anchor="t"/>
          <a:lstStyle/>
          <a:p>
            <a:pPr marL="0" indent="0" algn="l">
              <a:lnSpc>
                <a:spcPts val="2700"/>
              </a:lnSpc>
              <a:buNone/>
            </a:pPr>
            <a:r>
              <a:rPr lang="en-US" sz="2150" b="1" dirty="0">
                <a:solidFill>
                  <a:srgbClr val="E0E4E6"/>
                </a:solidFill>
                <a:latin typeface="Times New Roman" panose="02020603050405020304" charset="0"/>
                <a:ea typeface="Spline Sans Bold" pitchFamily="34" charset="-122"/>
                <a:cs typeface="Times New Roman" panose="02020603050405020304" charset="0"/>
              </a:rPr>
              <a:t>Infrastructure Upgrades</a:t>
            </a:r>
          </a:p>
        </p:txBody>
      </p:sp>
      <p:sp>
        <p:nvSpPr>
          <p:cNvPr id="6" name="Text 3"/>
          <p:cNvSpPr/>
          <p:nvPr/>
        </p:nvSpPr>
        <p:spPr>
          <a:xfrm>
            <a:off x="1419463" y="4120277"/>
            <a:ext cx="6860500" cy="395049"/>
          </a:xfrm>
          <a:prstGeom prst="rect">
            <a:avLst/>
          </a:prstGeom>
          <a:noFill/>
        </p:spPr>
        <p:txBody>
          <a:bodyPr wrap="none" lIns="0" tIns="0" rIns="0" bIns="0" rtlCol="0" anchor="t"/>
          <a:lstStyle/>
          <a:p>
            <a:pPr marL="0" indent="0" algn="l">
              <a:lnSpc>
                <a:spcPts val="3100"/>
              </a:lnSpc>
              <a:buNone/>
            </a:pPr>
            <a:r>
              <a:rPr lang="en-US" sz="1900" dirty="0">
                <a:solidFill>
                  <a:srgbClr val="E0E4E6"/>
                </a:solidFill>
                <a:latin typeface="Times New Roman" panose="02020603050405020304" charset="0"/>
                <a:ea typeface="Barlow" panose="00000800000000000000" pitchFamily="34" charset="-122"/>
                <a:cs typeface="Times New Roman" panose="02020603050405020304" charset="0"/>
              </a:rPr>
              <a:t>Improve signage, lighting, and road design.</a:t>
            </a:r>
          </a:p>
        </p:txBody>
      </p:sp>
      <p:sp>
        <p:nvSpPr>
          <p:cNvPr id="7" name="Shape 4"/>
          <p:cNvSpPr/>
          <p:nvPr/>
        </p:nvSpPr>
        <p:spPr>
          <a:xfrm>
            <a:off x="1234321" y="4762143"/>
            <a:ext cx="185142" cy="886063"/>
          </a:xfrm>
          <a:prstGeom prst="roundRect">
            <a:avLst>
              <a:gd name="adj" fmla="val 200026"/>
            </a:avLst>
          </a:prstGeom>
          <a:solidFill>
            <a:srgbClr val="0A081B"/>
          </a:solidFill>
          <a:ln w="30480">
            <a:solidFill>
              <a:srgbClr val="29DDDA"/>
            </a:solidFill>
            <a:prstDash val="solid"/>
          </a:ln>
        </p:spPr>
        <p:txBody>
          <a:bodyPr/>
          <a:lstStyle/>
          <a:p>
            <a:endParaRPr lang="en-US"/>
          </a:p>
        </p:txBody>
      </p:sp>
      <p:sp>
        <p:nvSpPr>
          <p:cNvPr id="8" name="Text 5"/>
          <p:cNvSpPr/>
          <p:nvPr/>
        </p:nvSpPr>
        <p:spPr>
          <a:xfrm>
            <a:off x="1789748" y="4762143"/>
            <a:ext cx="2815114" cy="342900"/>
          </a:xfrm>
          <a:prstGeom prst="rect">
            <a:avLst/>
          </a:prstGeom>
          <a:noFill/>
        </p:spPr>
        <p:txBody>
          <a:bodyPr wrap="none" lIns="0" tIns="0" rIns="0" bIns="0" rtlCol="0" anchor="t"/>
          <a:lstStyle/>
          <a:p>
            <a:pPr marL="0" indent="0" algn="l">
              <a:lnSpc>
                <a:spcPts val="2700"/>
              </a:lnSpc>
              <a:buNone/>
            </a:pPr>
            <a:r>
              <a:rPr lang="en-US" sz="2150" b="1" dirty="0">
                <a:solidFill>
                  <a:srgbClr val="E0E4E6"/>
                </a:solidFill>
                <a:latin typeface="Times New Roman" panose="02020603050405020304" charset="0"/>
                <a:ea typeface="Spline Sans Bold" pitchFamily="34" charset="-122"/>
                <a:cs typeface="Times New Roman" panose="02020603050405020304" charset="0"/>
              </a:rPr>
              <a:t>Education Campaigns</a:t>
            </a:r>
          </a:p>
        </p:txBody>
      </p:sp>
      <p:sp>
        <p:nvSpPr>
          <p:cNvPr id="9" name="Text 6"/>
          <p:cNvSpPr/>
          <p:nvPr/>
        </p:nvSpPr>
        <p:spPr>
          <a:xfrm>
            <a:off x="1789748" y="5253157"/>
            <a:ext cx="6490216" cy="395049"/>
          </a:xfrm>
          <a:prstGeom prst="rect">
            <a:avLst/>
          </a:prstGeom>
          <a:noFill/>
        </p:spPr>
        <p:txBody>
          <a:bodyPr wrap="none" lIns="0" tIns="0" rIns="0" bIns="0" rtlCol="0" anchor="t"/>
          <a:lstStyle/>
          <a:p>
            <a:pPr marL="0" indent="0" algn="l">
              <a:lnSpc>
                <a:spcPts val="3100"/>
              </a:lnSpc>
              <a:buNone/>
            </a:pPr>
            <a:r>
              <a:rPr lang="en-US" sz="1900" dirty="0">
                <a:solidFill>
                  <a:srgbClr val="E0E4E6"/>
                </a:solidFill>
                <a:latin typeface="Times New Roman" panose="02020603050405020304" charset="0"/>
                <a:ea typeface="Barlow" panose="00000800000000000000" pitchFamily="34" charset="-122"/>
                <a:cs typeface="Times New Roman" panose="02020603050405020304" charset="0"/>
              </a:rPr>
              <a:t>Promote safe driving through targeted programs.</a:t>
            </a:r>
          </a:p>
        </p:txBody>
      </p:sp>
      <p:sp>
        <p:nvSpPr>
          <p:cNvPr id="10" name="Shape 7"/>
          <p:cNvSpPr/>
          <p:nvPr/>
        </p:nvSpPr>
        <p:spPr>
          <a:xfrm>
            <a:off x="1604605" y="5895023"/>
            <a:ext cx="185142" cy="886063"/>
          </a:xfrm>
          <a:prstGeom prst="roundRect">
            <a:avLst>
              <a:gd name="adj" fmla="val 200026"/>
            </a:avLst>
          </a:prstGeom>
          <a:solidFill>
            <a:srgbClr val="0A081B"/>
          </a:solidFill>
          <a:ln w="30480">
            <a:solidFill>
              <a:srgbClr val="37A7E7"/>
            </a:solidFill>
            <a:prstDash val="solid"/>
          </a:ln>
        </p:spPr>
        <p:txBody>
          <a:bodyPr/>
          <a:lstStyle/>
          <a:p>
            <a:endParaRPr lang="en-US"/>
          </a:p>
        </p:txBody>
      </p:sp>
      <p:sp>
        <p:nvSpPr>
          <p:cNvPr id="11" name="Text 8"/>
          <p:cNvSpPr/>
          <p:nvPr/>
        </p:nvSpPr>
        <p:spPr>
          <a:xfrm>
            <a:off x="2160032" y="5895023"/>
            <a:ext cx="2743200" cy="342900"/>
          </a:xfrm>
          <a:prstGeom prst="rect">
            <a:avLst/>
          </a:prstGeom>
          <a:noFill/>
        </p:spPr>
        <p:txBody>
          <a:bodyPr wrap="none" lIns="0" tIns="0" rIns="0" bIns="0" rtlCol="0" anchor="t"/>
          <a:lstStyle/>
          <a:p>
            <a:pPr marL="0" indent="0" algn="l">
              <a:lnSpc>
                <a:spcPts val="2700"/>
              </a:lnSpc>
              <a:buNone/>
            </a:pPr>
            <a:r>
              <a:rPr lang="en-US" sz="2150" b="1" dirty="0">
                <a:solidFill>
                  <a:srgbClr val="E0E4E6"/>
                </a:solidFill>
                <a:latin typeface="Times New Roman" panose="02020603050405020304" charset="0"/>
                <a:ea typeface="Spline Sans Bold" pitchFamily="34" charset="-122"/>
                <a:cs typeface="Times New Roman" panose="02020603050405020304" charset="0"/>
              </a:rPr>
              <a:t>Policy Enforcement</a:t>
            </a:r>
          </a:p>
        </p:txBody>
      </p:sp>
      <p:sp>
        <p:nvSpPr>
          <p:cNvPr id="12" name="Text 9"/>
          <p:cNvSpPr/>
          <p:nvPr/>
        </p:nvSpPr>
        <p:spPr>
          <a:xfrm>
            <a:off x="2160032" y="6386036"/>
            <a:ext cx="6119932" cy="395049"/>
          </a:xfrm>
          <a:prstGeom prst="rect">
            <a:avLst/>
          </a:prstGeom>
          <a:noFill/>
        </p:spPr>
        <p:txBody>
          <a:bodyPr wrap="none" lIns="0" tIns="0" rIns="0" bIns="0" rtlCol="0" anchor="t"/>
          <a:lstStyle/>
          <a:p>
            <a:pPr marL="0" indent="0" algn="l">
              <a:lnSpc>
                <a:spcPts val="3100"/>
              </a:lnSpc>
              <a:buNone/>
            </a:pPr>
            <a:r>
              <a:rPr lang="en-US" sz="1900" dirty="0">
                <a:solidFill>
                  <a:srgbClr val="E0E4E6"/>
                </a:solidFill>
                <a:latin typeface="Times New Roman" panose="02020603050405020304" charset="0"/>
                <a:ea typeface="Barlow" panose="00000800000000000000" pitchFamily="34" charset="-122"/>
                <a:cs typeface="Times New Roman" panose="02020603050405020304" charset="0"/>
              </a:rPr>
              <a:t>Strengthen speed limits and DUI laws.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15"/>
          <p:cNvSpPr txBox="1"/>
          <p:nvPr/>
        </p:nvSpPr>
        <p:spPr>
          <a:xfrm>
            <a:off x="1838325" y="1469390"/>
            <a:ext cx="4876800" cy="521970"/>
          </a:xfrm>
          <a:prstGeom prst="rect">
            <a:avLst/>
          </a:prstGeom>
          <a:noFill/>
        </p:spPr>
        <p:txBody>
          <a:bodyPr wrap="square" rtlCol="0">
            <a:spAutoFit/>
          </a:bodyPr>
          <a:lstStyle/>
          <a:p>
            <a:r>
              <a:rPr lang="en-US" sz="2800" b="1" u="sng">
                <a:solidFill>
                  <a:schemeClr val="bg1"/>
                </a:solidFill>
                <a:latin typeface="Times New Roman" panose="02020603050405020304" charset="0"/>
                <a:cs typeface="Times New Roman" panose="02020603050405020304" charset="0"/>
              </a:rPr>
              <a:t>Conclusion:</a:t>
            </a:r>
          </a:p>
        </p:txBody>
      </p:sp>
      <p:sp>
        <p:nvSpPr>
          <p:cNvPr id="17" name="Text Box 16"/>
          <p:cNvSpPr txBox="1"/>
          <p:nvPr/>
        </p:nvSpPr>
        <p:spPr>
          <a:xfrm>
            <a:off x="1838325" y="2604135"/>
            <a:ext cx="10953750" cy="3442335"/>
          </a:xfrm>
          <a:prstGeom prst="rect">
            <a:avLst/>
          </a:prstGeom>
          <a:noFill/>
        </p:spPr>
        <p:txBody>
          <a:bodyPr wrap="square" rtlCol="0">
            <a:noAutofit/>
          </a:bodyPr>
          <a:lstStyle/>
          <a:p>
            <a:r>
              <a:rPr lang="en-US" altLang="en-US" sz="2400">
                <a:solidFill>
                  <a:schemeClr val="bg1"/>
                </a:solidFill>
                <a:latin typeface="Times New Roman" panose="02020603050405020304" charset="0"/>
                <a:cs typeface="Times New Roman" panose="02020603050405020304" charset="0"/>
              </a:rPr>
              <a:t>From the analysis of this dataset we now know the peak hours for collision, peak days for collision, peak hours when drivers drive under the influence, more collisions in places with , possibility of a serious injury when driver is under the influence and also what are the different distraction reasons for collisions in different hours.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Words>
  <Application>Microsoft Office PowerPoint</Application>
  <PresentationFormat>Custom</PresentationFormat>
  <Paragraphs>46</Paragraphs>
  <Slides>10</Slides>
  <Notes>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Calibri</vt:lpstr>
      <vt:lpstr>Times New Roman</vt:lpstr>
      <vt:lpstr>Arial</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Vishnu Sai Dornala</cp:lastModifiedBy>
  <cp:revision>9</cp:revision>
  <dcterms:created xsi:type="dcterms:W3CDTF">2025-05-07T06:31:00Z</dcterms:created>
  <dcterms:modified xsi:type="dcterms:W3CDTF">2025-11-17T03:07:00Z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AFFE96A70FAB4ACEBA78C80FB3014CEE_12</vt:lpwstr>
  </property>
  <property fmtid="{D5CDD505-2E9C-101B-9397-08002B2CF9AE}" pid="3" name="KSOProductBuildVer">
    <vt:lpwstr>1033-12.2.0.20795</vt:lpwstr>
  </property>
</Properties>
</file>